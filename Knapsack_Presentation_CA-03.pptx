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B5A7E4-891D-EB3F-7350-1038DF654F8A}">
          <p14:sldIdLst>
            <p14:sldId id="256"/>
            <p14:sldId id="257"/>
            <p14:sldId id="258"/>
            <p14:sldId id="259"/>
          </p14:sldIdLst>
        </p14:section>
        <p14:section name="Core idea" id="{45CC046B-BF8E-ECFA-5262-B782C39AA66D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mplementation and analysis" id="{A2D8FA78-0CFC-A583-9152-476CB87733F7}">
          <p14:sldIdLst>
            <p14:sldId id="267"/>
            <p14:sldId id="268"/>
            <p14:sldId id="269"/>
            <p14:sldId id="270"/>
          </p14:sldIdLst>
        </p14:section>
        <p14:section name="Wrap-up" id="{B2917EF0-E89C-DAE4-4A21-8B42107F86D6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4F4F6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F4F4F6"/>
                </a:solidFill>
                <a:latin typeface="+mn-lt"/>
              </a:rPr>
              <a:t>Operations for n = 20, W = 100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EF6B6B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4F4F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Brute force (2^20)</c:v>
                </c:pt>
                <c:pt idx="1">
                  <c:v>DP (n x W)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1048576</c:v>
                </c:pt>
                <c:pt idx="1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7A-B24B-AF4F-19AC1F31C7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4F4F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BE5B7-2838-E542-9B46-B3B2F3CAE40C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D3E38-FF49-3944-808A-B3D0839DC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6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subject and the topic. The story: a thief with a limited bag.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intuition: packing a bag with a weight limit. Each item has a weight and a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definition. x[i] is 1 if the item is taken and 0 if it is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by value takes item 4 (value 6) and fills the bag. DP finds items 1 and 2 for a total value of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has two choices, so n items give 2 to the power n subsets. It explodes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Optimal substructure and overlapping subproblems make DP applicable. State dp[i][w].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pseudocode: two nested loops, three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completed table for capacity 5. The gold cell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cells explained: two where the item fits and is taken, one skipped decision, one where item 4 is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Backtracking: if dp[i][w] differs from dp[i-1][w] the item was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 implementation for this example. Run it to show the output. Full code is in the GitHub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row only. Loop w downwards so that each item is used at most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and space are O(nW). It is pseudo-polynomial. Space can drop to O(W) with a 1D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three main variants. The 0/1 restriction is what breaks greedy.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Anywhere you choose items under a budget or capacity limit, knapsack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limits: pseudo-polynomial and memory heavy. Mention branch and bound and FPTAS for huge 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and thank the audience.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91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A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0" y="91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A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B4C0"/>
                </a:solidFill>
              </a:rPr>
              <a:t>Savani Kulkarni  |  PRN 25070521029  |  Section A  |  DAA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40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430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Knapsack Problem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solved with Dynamic Programming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4297680"/>
            <a:ext cx="667512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4348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Savani Kulkarni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983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25070521029   |   Section A   |   Semester III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Design and Analysis of Algorithms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10972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v=3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10972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v=4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921240" y="10972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v=5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921240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10972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v=6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w=5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03920" y="2926080"/>
            <a:ext cx="2926080" cy="310896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039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3749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kg</a:t>
            </a:r>
            <a:endParaRPr lang="en-US" sz="60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to pick?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47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8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8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29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7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323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17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76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911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058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0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35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499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64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and problem definition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383280" y="15544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greedy fails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and its cost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9052560" y="15544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81160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programming idea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892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and table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3383280" y="39319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11880" y="4160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4892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and C code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217920" y="39319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892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052560" y="39319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81160" y="4160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281160" y="4892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and applications</a:t>
            </a:r>
            <a:endParaRPr lang="en-US" sz="1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16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4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69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812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04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27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39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50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62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856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972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208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220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2436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2552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266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Intuition: packing a bag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packing a bag with a weight limit.</a:t>
            </a:r>
            <a:endParaRPr lang="en-US" sz="2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bag can hold a total weight of only 5.</a:t>
            </a:r>
            <a:endParaRPr lang="en-US" sz="2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items, each with a weight and a value. Which items give the maximum total value?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4297680"/>
            <a:ext cx="49377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434840"/>
            <a:ext cx="45720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261458"/>
            <a:ext cx="457200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capacity: the total weight limit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554480"/>
            <a:ext cx="26974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1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3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915400" y="1554480"/>
            <a:ext cx="26974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98280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2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4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035040" y="3749040"/>
            <a:ext cx="26974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3931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3950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3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5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915400" y="3749040"/>
            <a:ext cx="26974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098280" y="3931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692640" y="3950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4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0" y="4663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6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16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4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69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812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04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27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39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50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62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856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972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208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220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2436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2552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266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problem definition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items, item i has weight wt[i] and value val[i]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knapsack with capacity W</a:t>
            </a:r>
            <a:endParaRPr lang="en-US" sz="20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items so the total value is maximum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 must not exceed W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taken whole, or not at all (0/1)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309360" y="1554480"/>
            <a:ext cx="530352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val[i] · x[i]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wt[i] · x[i] ≤ W,   x[i] ∈ {0, 1}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309360" y="4526280"/>
            <a:ext cx="1691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4663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5120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or leave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10728" y="4526280"/>
            <a:ext cx="1691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02168" y="4663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Fractional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202168" y="5120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allowed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912096" y="4526280"/>
            <a:ext cx="169164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03536" y="4663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Unbounded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0003536" y="5120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copies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86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55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74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11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302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48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67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04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23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24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260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greedy approach fails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0352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36792" y="1463040"/>
            <a:ext cx="530352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Greedy: highest value first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Item 4 (weight 5, value 6).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bag is full. No room left.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6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6611112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Optimal: Dynamic Programming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611112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Item 1 (weight 2) + Item 2 (weight 3).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 5, higher value.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611112" y="3474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7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5641848" y="30632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VS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never looks back. DP compares both choices at every step.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 force explodes: 2ⁿ subsets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can be taken or left, so n items give 2ⁿ possible combinations to check.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items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97680" y="237744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items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1,048,576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46720" y="237744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 items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1,099,511,627,776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smarter way: reuse the answers to smaller subproblems.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dynamic programming idea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12064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substructure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answer for i items is built from best answers for i-1 items.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512064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Overlapping subproblems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251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(i, w) subproblem appears again and again, so store it once.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0" y="1463040"/>
            <a:ext cx="5669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965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dp[i][w] = best value using the first i items with capacity w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943600" y="3063240"/>
            <a:ext cx="5669280" cy="2286000"/>
          </a:xfrm>
          <a:prstGeom prst="roundRect">
            <a:avLst>
              <a:gd name="adj" fmla="val 4800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32461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wt[i] &gt; w: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dp[i][w] = dp[i-1][w]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dp[i][w] = max(dp[i-1][w],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val[i] + dp[i-1][w-wt[i]])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dp[0][w] = dp[i][0] = 0.   Answer: dp[n][W]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6217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KNAPSACK(wt[], val[], n, W)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0 to 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 = 0 to 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i == 0 or w ==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dp[i][w]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 if wt[i] &lt;= 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dp[i][w] = max(dp[i-1][w],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val[i] + dp[i-1][w-wt[i]])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dp[i][w] = dp[i-1][w]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dp[n][W]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(n+1) x (W+1) table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 and column 0 are zeros.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697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row by row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063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looks only at the row above.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answer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is in dp[n][W].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983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back to recover the chosen items.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the DP table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\ 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Item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Item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Item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Item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09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as (weight, value): 1 = (2, 3), 2 = (3, 4), 3 = (4, 5), 4 = (5, 6).   Capacity W = 5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8686800" y="1463040"/>
            <a:ext cx="29260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6968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 and column 0 are zeros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2194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items or no capacity gives no value.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686800" y="3063240"/>
            <a:ext cx="29260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6"/>
          <p:cNvSpPr txBox="1"/>
          <p:nvPr/>
        </p:nvSpPr>
        <p:spPr>
          <a:xfrm>
            <a:off x="88696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uses the row above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869680" y="3794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it, or take it and look back.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686800" y="4663440"/>
            <a:ext cx="29260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869680" y="4800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cell = 7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869680" y="5394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total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by cell: skip or take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dp[1][2]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292608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 fits (weight 2)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 dp[0][2], 3 + dp[0][0] 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max( 0, 3 ) = 3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dp[2][5]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 fits (weight 3)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377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 dp[1][5], 4 + dp[1][2] 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max( 3, 4 + 3 ) = 7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dp[3][4]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 fits (weight 4)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 dp[2][4], 5 + dp[2][0] 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max( 4, 5 ) = 5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465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dp[4][5]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 fits (weight 5)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 dp[3][5], 6 + dp[3][0] 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max( 7, 6 ) = 7  (item 4 skipped)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227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26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Backtracking: which items?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\ 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Item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Item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Item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Item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09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dp[4][5]. Indigo = skipped, teal = taken.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8686800" y="1463040"/>
            <a:ext cx="292608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6968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196596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dp[i][w] ≠ dp[i-1][w], item i was taken. Then w = w - wt[i].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86800" y="4206240"/>
            <a:ext cx="292608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6968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items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869680" y="4754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1 and 2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5, value 7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in C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7223760" cy="46634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max(int a, int b) { return a &gt; b ? a : b; 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= 4, W = 5, dp[5][6];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wt[]  = {0, 2, 3, 4, 5};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val[] = {0, 3, 4, 5, 6};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&lt;= n; i++)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w = 0; w &lt;= W; w++)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(i == 0 || w == 0) dp[i][w] =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if (wt[i] &lt;= w)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dp[i][w] = max(dp[i-1][w],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val[i] + dp[i-1][w - wt[i]]);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dp[i][w] = dp[i-1][w];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printf("Maximum value = %d\n", dp[n][W]);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3816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6676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value = 7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138160" y="3749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on GitHub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44348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github.com/Savani2007/DAA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backtracking loop can also print the selected items.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optimization: one row is enough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4592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dp[W + 1] = {0};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n; i++)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w = W; w &gt;= wt[i]; w--)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dp[w] = max(dp[w],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val[i] + dp[w - wt[i]]);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dp[W]);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O(nW), but space drops from O(nW) to O(W).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58952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row?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057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 needs only row i-1, so we overwrite a single array.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89520" y="297180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loop w downwards?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dp[w - wt[i]] still holds the old row. Each item is used once.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89520" y="44805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4617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5074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items cannot be recovered without extra bookkeeping.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analysis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00200"/>
            <a:ext cx="4937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· W)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28393"/>
            <a:ext cx="49377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(n+1)(W+1) cells, each filled in O(1)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017520"/>
            <a:ext cx="4937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· W)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45713"/>
            <a:ext cx="49377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the full table. Backtracking needs 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434840"/>
            <a:ext cx="4937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O(W)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063033"/>
            <a:ext cx="49377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space: one row, loop w downward</a:t>
            </a:r>
            <a:endParaRPr lang="en-US" sz="14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309360" y="1463040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Pseudo-polynomial: time depends on the numeric value of W, not only on the input size. The decision version of 0/1 knapsack is NP-complete.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Knapsack variants compared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 Knapsack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whole item or leave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can be split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by value/weight ratio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 copies of each 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O(nW)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4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all-or-nothing rule of 0/1 knapsack is exactly what makes greedy fail and DP necessary.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Cargo loading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containers and trucks for maximum value within weight limits.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choice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377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the capacity, expected returns are the values.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3816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selection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2377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projects with the best payoff within a fixed budget.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resources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jobs to CPU and memory limits for the best throughput.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4340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Cutting stock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raw material to waste as little as possible.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38160" y="384048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5256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campaigns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36676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ads that fit a daily budget to maximize reach.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16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4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696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812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044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27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39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50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624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856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972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208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220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2436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2552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266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limitations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finds the true optimum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recurrence, easy to code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in n and W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item values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Pseudo-polynomial: slow for a huge W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O(nW) memory for the full table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be integers (or scaled)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shortcuts do not apply to 0/1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large W: branch and bound or an FPTAS (approximation scheme) are used instead.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9436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554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Knapsack: maximize value within a fixed capacity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9436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fails for 0/1; DP guarantees the optimum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59436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3931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dp[i][w] = max(skip, take), in O(nW) time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5029200"/>
            <a:ext cx="59436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5120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 through the table to recover the items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858000" y="1463040"/>
            <a:ext cx="475488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0" y="1737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smart, not greedy.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34747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Savani Kulkarni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25070521029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A, Semester III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B4B4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227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26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reasure Vault">
  <a:themeElements>
    <a:clrScheme name="Treasure Vault">
      <a:dk1>
        <a:srgbClr val="16161B"/>
      </a:dk1>
      <a:lt1>
        <a:srgbClr val="F4F4F6"/>
      </a:lt1>
      <a:dk2>
        <a:srgbClr val="1F1F27"/>
      </a:dk2>
      <a:lt2>
        <a:srgbClr val="B4B4C0"/>
      </a:lt2>
      <a:accent1>
        <a:srgbClr val="2DD4BF"/>
      </a:accent1>
      <a:accent2>
        <a:srgbClr val="E5B94E"/>
      </a:accent2>
      <a:accent3>
        <a:srgbClr val="EF6B6B"/>
      </a:accent3>
      <a:accent4>
        <a:srgbClr val="5B5BD6"/>
      </a:accent4>
      <a:accent5>
        <a:srgbClr val="34343F"/>
      </a:accent5>
      <a:accent6>
        <a:srgbClr val="7DE3D4"/>
      </a:accent6>
      <a:hlink>
        <a:srgbClr val="2DD4BF"/>
      </a:hlink>
      <a:folHlink>
        <a:srgbClr val="B4B4C0"/>
      </a:folHlink>
    </a:clrScheme>
    <a:fontScheme name="Treasure Vaul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Treasure Vault</vt:lpstr>
      <vt:lpstr>PowerPoint Presentation</vt:lpstr>
      <vt:lpstr>What we will cover</vt:lpstr>
      <vt:lpstr>Intuition: packing a bag</vt:lpstr>
      <vt:lpstr>Formal problem definition</vt:lpstr>
      <vt:lpstr>Why the greedy approach fails</vt:lpstr>
      <vt:lpstr>Brute force explodes: 2ⁿ subsets</vt:lpstr>
      <vt:lpstr>The dynamic programming idea</vt:lpstr>
      <vt:lpstr>The algorithm</vt:lpstr>
      <vt:lpstr>Worked example: the DP table</vt:lpstr>
      <vt:lpstr>Cell by cell: skip or take</vt:lpstr>
      <vt:lpstr>Backtracking: which items?</vt:lpstr>
      <vt:lpstr>Implementation in C</vt:lpstr>
      <vt:lpstr>Space optimization: one row is enough</vt:lpstr>
      <vt:lpstr>Complexity analysis</vt:lpstr>
      <vt:lpstr>Knapsack variants compared</vt:lpstr>
      <vt:lpstr>Real-world applications</vt:lpstr>
      <vt:lpstr>Strengths and limitations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Knapsack Problem</dc:title>
  <dc:subject>Design and Analysis of Algorithms</dc:subject>
  <dc:creator>Savani Kulkarni</dc:creator>
  <cp:lastModifiedBy>Savani Kulkarni</cp:lastModifiedBy>
  <cp:revision>2</cp:revision>
  <dcterms:created xsi:type="dcterms:W3CDTF">2026-10-20T08:50:45Z</dcterms:created>
  <dcterms:modified xsi:type="dcterms:W3CDTF">2026-10-20T08:53:26Z</dcterms:modified>
</cp:coreProperties>
</file>